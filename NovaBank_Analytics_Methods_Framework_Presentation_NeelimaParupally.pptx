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72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2000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0889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9" y="0"/>
            <a:ext cx="160934" cy="6858000"/>
          </a:xfrm>
          <a:prstGeom prst="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2FA9E1"/>
          </a:solidFill>
          <a:ln w="12700">
            <a:solidFill>
              <a:srgbClr val="2FA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783080" y="11430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3B64"/>
                </a:solidFill>
              </a:rPr>
              <a:t>From Predictive Analytics to Operational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F3B64"/>
                </a:solidFill>
              </a:rPr>
              <a:t>Decision Support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10512" y="24871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3B64"/>
                </a:solidFill>
              </a:rPr>
              <a:t>A practical framework for NovaBank customer outreach prioritization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10512" y="3749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B64"/>
                </a:solidFill>
              </a:rPr>
              <a:t>Prepared by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10512" y="4069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24242"/>
                </a:solidFill>
              </a:rPr>
              <a:t>Neelima Parupally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10512" y="473659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3B64"/>
                </a:solidFill>
              </a:rPr>
              <a:t>Analytics Methods and Frameworks Project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3B64"/>
                </a:solidFill>
              </a:rPr>
              <a:t>Quantic School of Business and Technology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10512" y="55778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24242"/>
                </a:solidFill>
              </a:rPr>
              <a:t>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58761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F3B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Introduction: the decision to support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76656" y="770241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genuine, operational framing of the NovaBank case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245729"/>
            <a:ext cx="2769954" cy="1645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FA9E1"/>
                </a:solidFill>
              </a:rPr>
              <a:t>BUSINESS PROBLEM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20049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NovaBank needs to use limited retention/campaign capacity more effectively. The goal is not to contact everyone; it is to prioritize customers most likely to respond to proactive outreach.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19" y="2967474"/>
            <a:ext cx="2769955" cy="1645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</a:rPr>
              <a:t>ANALYTICS TRANSLATION</a:t>
            </a:r>
            <a:endParaRPr lang="en-US" sz="1400" dirty="0">
              <a:solidFill>
                <a:srgbClr val="00B0F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3241793"/>
            <a:ext cx="4846295" cy="134148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Binary classification: estimate probability of a positive  customer response</a:t>
            </a:r>
            <a:endParaRPr lang="en-US" sz="1400" dirty="0"/>
          </a:p>
          <a:p>
            <a:pPr marL="0" indent="0" algn="just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Ranking problem: decide who is in the top outreach group.</a:t>
            </a:r>
            <a:endParaRPr lang="en-US" sz="1400" dirty="0"/>
          </a:p>
          <a:p>
            <a:pPr marL="0" indent="0" algn="just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Decision framework: connect model scores to action tiers and pilot governance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89320" y="1200009"/>
            <a:ext cx="0" cy="438912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92239" y="1245728"/>
            <a:ext cx="2986289" cy="21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</a:rPr>
              <a:t>IMPORTANT LIMITATION</a:t>
            </a:r>
            <a:endParaRPr lang="en-US" sz="1400" dirty="0">
              <a:solidFill>
                <a:srgbClr val="00B0F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492240" y="1520049"/>
            <a:ext cx="4434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The public dataset measures term-deposit campaign response, not actual churn. I use response as a proxy for retention engagement and clearly treat financial impact as an illustrative scenario.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39" y="2937368"/>
            <a:ext cx="2685211" cy="2560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FA9E1"/>
                </a:solidFill>
              </a:rPr>
              <a:t>SUCCESS MEASURES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39" y="3284848"/>
            <a:ext cx="45262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AUC-ROC: ranking quality across all customers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Average precision / Precision@Top20%: usefulness under class imbalance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Pilot lift vs. control: the final business proof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6457809"/>
            <a:ext cx="1110996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NovaBank Analytics Methods &amp; Frameworks | Neelima Parupally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018520" y="651967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10</a:t>
            </a:r>
            <a:endParaRPr lang="en-US" sz="750" dirty="0"/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192FDDBF-0FDF-246A-8E07-89FCEC440F3D}"/>
              </a:ext>
            </a:extLst>
          </p:cNvPr>
          <p:cNvSpPr/>
          <p:nvPr/>
        </p:nvSpPr>
        <p:spPr>
          <a:xfrm>
            <a:off x="47549" y="0"/>
            <a:ext cx="160934" cy="6858000"/>
          </a:xfrm>
          <a:prstGeom prst="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168395A0-1BC1-03E4-14CF-708A33445211}"/>
              </a:ext>
            </a:extLst>
          </p:cNvPr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2FA9E1"/>
          </a:solidFill>
          <a:ln w="12700">
            <a:solidFill>
              <a:srgbClr val="2FA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3373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F3B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readiness: response is rare and uneven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41661" y="75895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UCI Bank Marketing dataset used as a proxy for NovaBank outreach response</a:t>
            </a:r>
            <a:endParaRPr lang="en-US" sz="900" dirty="0"/>
          </a:p>
        </p:txBody>
      </p:sp>
      <p:pic>
        <p:nvPicPr>
          <p:cNvPr id="5" name="Image 1" descr="/mnt/data/fig3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756" y="1051560"/>
            <a:ext cx="5100177" cy="4251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3685" y="3774441"/>
            <a:ext cx="4892040" cy="143763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41,188 records with 20 input features plus a binary target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Only 11.3% positive response, so accuracy alone is not useful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Duration is excluded to prevent leakage because it is only known after a call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Macroeconomic and prior-contact variables show stronger signal than demographics alone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559365" y="6446520"/>
            <a:ext cx="1110996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30352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NovaBank Analytics Methods &amp; Frameworks | Neelima Parupally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11018520" y="651967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10</a:t>
            </a:r>
            <a:endParaRPr lang="en-US" sz="750" dirty="0"/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2D904426-A47F-01AF-E0B9-23B73148EDC1}"/>
              </a:ext>
            </a:extLst>
          </p:cNvPr>
          <p:cNvSpPr/>
          <p:nvPr/>
        </p:nvSpPr>
        <p:spPr>
          <a:xfrm>
            <a:off x="47549" y="0"/>
            <a:ext cx="160934" cy="6858000"/>
          </a:xfrm>
          <a:prstGeom prst="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EF06F671-3F99-044C-BEA6-87F69E28AB06}"/>
              </a:ext>
            </a:extLst>
          </p:cNvPr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2FA9E1"/>
          </a:solidFill>
          <a:ln w="12700">
            <a:solidFill>
              <a:srgbClr val="2FA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A5928A-3733-630F-FA17-C2F6BBE44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73" y="1255269"/>
            <a:ext cx="5708805" cy="22423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1107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F3B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Modeling approach: baseline first, then improvement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09395" y="75895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 establishes the floor; gradient boosting improves ranking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263661" y="12344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FA9E1"/>
                </a:solidFill>
              </a:rPr>
              <a:t>BASELINE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263661" y="1508760"/>
            <a:ext cx="41605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Logistic regression with class weighting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Easy to explain and audit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Baseline AUC: 0.801; AP: 0.460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263661" y="2743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</a:rPr>
              <a:t>IMPROVED MODEL</a:t>
            </a:r>
            <a:endParaRPr lang="en-US" sz="1400" dirty="0">
              <a:solidFill>
                <a:srgbClr val="00B0F0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7263661" y="3017520"/>
            <a:ext cx="425196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Gradient boosting captures non-linear patterns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Improved AUC: 0.814; AP: 0.489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Gain is modest but useful for prioritizing thousands of customers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027899" y="47548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4CAF50"/>
                </a:solidFill>
              </a:rPr>
              <a:t>3x+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936459" y="513892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estimated lift in top-ranked group vs. random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948139" y="47548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3B64"/>
                </a:solidFill>
              </a:rPr>
              <a:t>Top 20%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856699" y="513892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recommended capacity-based outreach pool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7099" y="6446520"/>
            <a:ext cx="1110996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4531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NovaBank Analytics Methods &amp; Frameworks | Neelima Parupally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1142699" y="651967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10</a:t>
            </a:r>
            <a:endParaRPr lang="en-US" sz="750" dirty="0"/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19E292BB-1783-496F-6201-6E844C61B1ED}"/>
              </a:ext>
            </a:extLst>
          </p:cNvPr>
          <p:cNvSpPr/>
          <p:nvPr/>
        </p:nvSpPr>
        <p:spPr>
          <a:xfrm>
            <a:off x="47549" y="0"/>
            <a:ext cx="160934" cy="6858000"/>
          </a:xfrm>
          <a:prstGeom prst="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0AA2E4DA-558B-8E68-1D56-C1F4FA34EC33}"/>
              </a:ext>
            </a:extLst>
          </p:cNvPr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2FA9E1"/>
          </a:solidFill>
          <a:ln w="12700">
            <a:solidFill>
              <a:srgbClr val="2FA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6B4A327-9630-366F-E905-6FBF67E11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464" y="1417099"/>
            <a:ext cx="6525651" cy="30908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724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F3B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Explainability: what drives the ranking?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75528" y="75895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Permutation importance shows predictive contribution, not causation</a:t>
            </a:r>
            <a:endParaRPr lang="en-US" sz="900" dirty="0"/>
          </a:p>
        </p:txBody>
      </p:sp>
      <p:pic>
        <p:nvPicPr>
          <p:cNvPr id="4" name="Image 0" descr="/mnt/data/fig7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72" y="1241554"/>
            <a:ext cx="5852160" cy="40548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11152" y="1234440"/>
            <a:ext cx="324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FA9E1"/>
                </a:solidFill>
              </a:rPr>
              <a:t>WHAT LEADERSHIP CAN UNDERSTAND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811152" y="1536191"/>
            <a:ext cx="4892040" cy="144936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Economic context matters: employment and interest-rate indicators are strong drivers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Channel, timing, and prior campaign outcome affect customer response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Demographics are not the primary standalone drivers and should be monitored for fairness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19168" y="3319274"/>
            <a:ext cx="2982844" cy="21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</a:rPr>
              <a:t>GOVERNANCE NOTE</a:t>
            </a:r>
            <a:endParaRPr lang="en-US" sz="1400" dirty="0">
              <a:solidFill>
                <a:srgbClr val="00B0F0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6811151" y="3639315"/>
            <a:ext cx="4778593" cy="9547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rgbClr val="111827"/>
                </a:solidFill>
              </a:rPr>
              <a:t>This model should be used as a ranking aid, not an automatic decision engine. Final production use requires monitoring, fairness review, and business-owner signoff.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3232" y="6446520"/>
            <a:ext cx="1110996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0664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NovaBank Analytics Methods &amp; Frameworks | Neelima Parupally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108832" y="651967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10</a:t>
            </a:r>
            <a:endParaRPr lang="en-US" sz="750" dirty="0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882DAEE6-D3BA-8757-EE0D-BA1F1744AB4F}"/>
              </a:ext>
            </a:extLst>
          </p:cNvPr>
          <p:cNvSpPr/>
          <p:nvPr/>
        </p:nvSpPr>
        <p:spPr>
          <a:xfrm>
            <a:off x="47549" y="0"/>
            <a:ext cx="160934" cy="6858000"/>
          </a:xfrm>
          <a:prstGeom prst="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8F108371-107E-AEC3-FE2C-32E036F2A4CD}"/>
              </a:ext>
            </a:extLst>
          </p:cNvPr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2FA9E1"/>
          </a:solidFill>
          <a:ln w="12700">
            <a:solidFill>
              <a:srgbClr val="2FA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5951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F3B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framework: use capacity first, thresholds second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64239" y="75895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mixing three different decision rules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74439" y="1234440"/>
            <a:ext cx="28729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FA9E1"/>
                </a:solidFill>
              </a:rPr>
              <a:t>PRIMARY PRODUCTION RULE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174439" y="1517904"/>
            <a:ext cx="4517463" cy="776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Rank customers by predicted probability and contact the top 20%, because the quarterly campaign has limited capacity.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74439" y="2899863"/>
            <a:ext cx="3923103" cy="27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</a:rPr>
              <a:t>SUPPORTING THRESHOLD ANALYSIS</a:t>
            </a:r>
            <a:endParaRPr lang="en-US" sz="1400" dirty="0">
              <a:solidFill>
                <a:srgbClr val="00B0F0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7174439" y="3247327"/>
            <a:ext cx="4517464" cy="152583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F2-score peaks around 0.46 when recall is valued more than precision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Minimum-cost threshold is lower under the assumed $15 FP / $500 FN cost ratio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These thresholds are sensitivity checks, not replacements for the top-20% capacity rule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93978" y="4535423"/>
            <a:ext cx="1749222" cy="246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</a:rPr>
              <a:t>ACTION TIERS</a:t>
            </a:r>
            <a:endParaRPr lang="en-US" sz="1400" dirty="0">
              <a:solidFill>
                <a:srgbClr val="00B0F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993978" y="4888943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Tier 1: highest scores, personal call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Tier 2: next-highest scores, email + follow-up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No action: hold this cycle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81943" y="6446520"/>
            <a:ext cx="1110996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9375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NovaBank Analytics Methods &amp; Frameworks | Neelima Parupally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097543" y="651967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10</a:t>
            </a:r>
            <a:endParaRPr lang="en-US" sz="750" dirty="0"/>
          </a:p>
        </p:txBody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3FC7878D-778F-F3C6-61D9-EEB1BD683277}"/>
              </a:ext>
            </a:extLst>
          </p:cNvPr>
          <p:cNvSpPr/>
          <p:nvPr/>
        </p:nvSpPr>
        <p:spPr>
          <a:xfrm>
            <a:off x="47549" y="0"/>
            <a:ext cx="160934" cy="6858000"/>
          </a:xfrm>
          <a:prstGeom prst="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3DD7C81A-3DF5-E991-3DC2-02D7D8B4B3A5}"/>
              </a:ext>
            </a:extLst>
          </p:cNvPr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2FA9E1"/>
          </a:solidFill>
          <a:ln w="12700">
            <a:solidFill>
              <a:srgbClr val="2FA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8C75C6C-3113-57D3-E9C8-9487B8A3B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43" y="1168914"/>
            <a:ext cx="6490886" cy="29183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724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F3B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Segmentation: useful for messaging, not proof of model performance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20664" y="699516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K-means highlights one high-response group and several lower-response groups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61544" y="996696"/>
            <a:ext cx="28705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FA9E1"/>
                </a:solidFill>
              </a:rPr>
              <a:t>CORRECTED INTERPRETATION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661544" y="1289303"/>
            <a:ext cx="4251960" cy="1636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segment chart does not support four sharply distinct customer personas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supports a simpler message: one cluster has much higher response, while the other groups are lower-response mass-market segments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Segment labels should be finalized only after reviewing cluster profiles and sizes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661543" y="3328415"/>
            <a:ext cx="2055333" cy="3732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</a:rPr>
              <a:t>HOW TO USE THIS</a:t>
            </a:r>
            <a:endParaRPr lang="en-US" sz="1400" dirty="0">
              <a:solidFill>
                <a:srgbClr val="00B0F0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7661544" y="3663826"/>
            <a:ext cx="4274424" cy="12024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rgbClr val="111827"/>
                </a:solidFill>
              </a:rPr>
              <a:t>Use segmentation to tailor outreach scripts and offers. Do not use it as independent proof that the predictive model works; performance must be validated on the test set and pilot control group.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3232" y="6446520"/>
            <a:ext cx="1110996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0664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NovaBank Analytics Methods &amp; Frameworks | Neelima Parupally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108832" y="651967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10</a:t>
            </a:r>
            <a:endParaRPr lang="en-US" sz="750" dirty="0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CD552B06-8C0C-F2D4-E621-BF662CFDF6EF}"/>
              </a:ext>
            </a:extLst>
          </p:cNvPr>
          <p:cNvSpPr/>
          <p:nvPr/>
        </p:nvSpPr>
        <p:spPr>
          <a:xfrm>
            <a:off x="47549" y="0"/>
            <a:ext cx="160934" cy="6858000"/>
          </a:xfrm>
          <a:prstGeom prst="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770121B8-12D1-7B8A-5A99-7D190727C5A0}"/>
              </a:ext>
            </a:extLst>
          </p:cNvPr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2FA9E1"/>
          </a:solidFill>
          <a:ln w="12700">
            <a:solidFill>
              <a:srgbClr val="2FA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7F1105C-ADE8-CEF6-B272-DCD7B2EE6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5" y="1207691"/>
            <a:ext cx="7115462" cy="32317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724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F3B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plan: prove lift, fairness, and operational fit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75528" y="75895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should not go directly into full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6112" y="12344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FA9E1"/>
                </a:solidFill>
              </a:rPr>
              <a:t>90-DAY PILOT DESIGN</a:t>
            </a:r>
            <a:endParaRPr lang="en-US" sz="1400" b="1" dirty="0"/>
          </a:p>
        </p:txBody>
      </p:sp>
      <p:sp>
        <p:nvSpPr>
          <p:cNvPr id="5" name="Text 3"/>
          <p:cNvSpPr/>
          <p:nvPr/>
        </p:nvSpPr>
        <p:spPr>
          <a:xfrm>
            <a:off x="692244" y="1410301"/>
            <a:ext cx="5244807" cy="13944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5,000 customers total: 2,500 model-selected and 2,500 randomized control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Measure incremental response / retention lift, cost per successful contact, and customer complaints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Track results by age group and job category for fairness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6126" y="3300832"/>
            <a:ext cx="3089957" cy="1645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</a:rPr>
              <a:t>FAIRNESS CHECKS TO INCLUDE</a:t>
            </a:r>
          </a:p>
        </p:txBody>
      </p:sp>
      <p:sp>
        <p:nvSpPr>
          <p:cNvPr id="7" name="Text 5"/>
          <p:cNvSpPr/>
          <p:nvPr/>
        </p:nvSpPr>
        <p:spPr>
          <a:xfrm>
            <a:off x="755705" y="3529584"/>
            <a:ext cx="516636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Selection rate by group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Precision by group among contacted customers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Recall / missed-positive rate by group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Escalation review if gaps are large or sample sizes are too small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2512" y="1188720"/>
            <a:ext cx="0" cy="438912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89609" y="1150806"/>
            <a:ext cx="2304751" cy="2194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</a:rPr>
              <a:t>RISKS CONTROLLED</a:t>
            </a:r>
          </a:p>
        </p:txBody>
      </p:sp>
      <p:sp>
        <p:nvSpPr>
          <p:cNvPr id="10" name="Text 8"/>
          <p:cNvSpPr/>
          <p:nvPr/>
        </p:nvSpPr>
        <p:spPr>
          <a:xfrm>
            <a:off x="6602960" y="1223423"/>
            <a:ext cx="4618293" cy="146301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Proxy-target risk: campaign response is not actual churn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Leakage risk: call duration is removed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Drift risk: macro indicators can change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Customer-fatigue risk: outreach volume must be capped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89609" y="3300832"/>
            <a:ext cx="2635259" cy="2193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FA9E1"/>
                </a:solidFill>
              </a:rPr>
              <a:t>GO / NO-GO CRITERIA</a:t>
            </a:r>
            <a:endParaRPr lang="en-US" sz="1400" b="1" dirty="0"/>
          </a:p>
        </p:txBody>
      </p:sp>
      <p:sp>
        <p:nvSpPr>
          <p:cNvPr id="12" name="Text 10"/>
          <p:cNvSpPr/>
          <p:nvPr/>
        </p:nvSpPr>
        <p:spPr>
          <a:xfrm>
            <a:off x="6656346" y="3706746"/>
            <a:ext cx="4867283" cy="9133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rgbClr val="111827"/>
                </a:solidFill>
              </a:rPr>
              <a:t>Scale only if the pilot shows commercially meaningful lift vs. control, acceptable fairness metrics, and manageable Tier 1 call volume.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3232" y="6446520"/>
            <a:ext cx="1110996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0664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NovaBank Analytics Methods &amp; Frameworks | Neelima Parupally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108832" y="651967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10</a:t>
            </a:r>
            <a:endParaRPr lang="en-US" sz="750" dirty="0"/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E68BD3AE-DB15-8362-2449-F4DEA8DFDC05}"/>
              </a:ext>
            </a:extLst>
          </p:cNvPr>
          <p:cNvSpPr/>
          <p:nvPr/>
        </p:nvSpPr>
        <p:spPr>
          <a:xfrm>
            <a:off x="47549" y="0"/>
            <a:ext cx="160934" cy="6858000"/>
          </a:xfrm>
          <a:prstGeom prst="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F061B6F5-DAD9-AD20-A25E-6C953BE1F0FE}"/>
              </a:ext>
            </a:extLst>
          </p:cNvPr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2FA9E1"/>
          </a:solidFill>
          <a:ln w="12700">
            <a:solidFill>
              <a:srgbClr val="2FA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1107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F3B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Recommendation: pilot the ranking model, then scale carefully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09395" y="75895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decision, with transparent assumptions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7004" y="1261871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</a:rPr>
              <a:t>RECOMMENDED DECISION</a:t>
            </a:r>
          </a:p>
        </p:txBody>
      </p:sp>
      <p:sp>
        <p:nvSpPr>
          <p:cNvPr id="5" name="Text 3"/>
          <p:cNvSpPr/>
          <p:nvPr/>
        </p:nvSpPr>
        <p:spPr>
          <a:xfrm>
            <a:off x="654531" y="1508759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Approve a 90-day pilot using the gradient boosting score to rank customers. Contact the highest-scored 20% using two outreach tiers, while holding out a randomized control group.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4531" y="2588912"/>
            <a:ext cx="1920240" cy="22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FA9E1"/>
                </a:solidFill>
              </a:rPr>
              <a:t>WHY THIS IS CREDIBLE</a:t>
            </a:r>
            <a:endParaRPr lang="en-US" sz="1400" b="1" dirty="0"/>
          </a:p>
        </p:txBody>
      </p:sp>
      <p:sp>
        <p:nvSpPr>
          <p:cNvPr id="7" name="Text 5"/>
          <p:cNvSpPr/>
          <p:nvPr/>
        </p:nvSpPr>
        <p:spPr>
          <a:xfrm>
            <a:off x="654531" y="2896666"/>
            <a:ext cx="516636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Baseline and improved model are both shown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Decision threshold is tied to business capacity and cost sensitivity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Unsupported ROI claims are avoided; financial impact is treated as a pilot-tested scenario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Reproducible notebook and dataset are included for review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4531" y="4487722"/>
            <a:ext cx="25589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</a:rPr>
              <a:t>WHAT LEADERSHIP GETS</a:t>
            </a:r>
          </a:p>
        </p:txBody>
      </p:sp>
      <p:sp>
        <p:nvSpPr>
          <p:cNvPr id="9" name="Text 7"/>
          <p:cNvSpPr/>
          <p:nvPr/>
        </p:nvSpPr>
        <p:spPr>
          <a:xfrm>
            <a:off x="684883" y="4652314"/>
            <a:ext cx="443484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prioritized outreach list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defensible reason for who gets contacted first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test plan before spending the full budget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governance path for fairness and drift monitoring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02219" y="2621023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</a:rPr>
              <a:t>FINAL ANSWER</a:t>
            </a:r>
          </a:p>
        </p:txBody>
      </p:sp>
      <p:sp>
        <p:nvSpPr>
          <p:cNvPr id="11" name="Text 9"/>
          <p:cNvSpPr/>
          <p:nvPr/>
        </p:nvSpPr>
        <p:spPr>
          <a:xfrm>
            <a:off x="7302219" y="296265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3B64"/>
                </a:solidFill>
              </a:rPr>
              <a:t>Use the model to prioritize action, not to automate judgment.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7099" y="6446520"/>
            <a:ext cx="1110996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4531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NovaBank Analytics Methods &amp; Frameworks | Neelima Parupally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142699" y="651967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10</a:t>
            </a:r>
            <a:endParaRPr lang="en-US" sz="750" dirty="0"/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79C61983-6F48-4FF3-A475-3AA8FDA5F372}"/>
              </a:ext>
            </a:extLst>
          </p:cNvPr>
          <p:cNvSpPr/>
          <p:nvPr/>
        </p:nvSpPr>
        <p:spPr>
          <a:xfrm>
            <a:off x="47549" y="0"/>
            <a:ext cx="160934" cy="6858000"/>
          </a:xfrm>
          <a:prstGeom prst="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29404765-1EC9-5E79-4BE9-FF3D0AEB3584}"/>
              </a:ext>
            </a:extLst>
          </p:cNvPr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2FA9E1"/>
          </a:solidFill>
          <a:ln w="12700">
            <a:solidFill>
              <a:srgbClr val="2FA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818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F3B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AI usage transparency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98106" y="75895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and reproducibility notes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690" y="12344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FA9E1"/>
                </a:solidFill>
              </a:rPr>
              <a:t>DATASET AND CITATION</a:t>
            </a:r>
            <a:endParaRPr lang="en-US" sz="1400" b="1" dirty="0"/>
          </a:p>
        </p:txBody>
      </p:sp>
      <p:sp>
        <p:nvSpPr>
          <p:cNvPr id="5" name="Text 3"/>
          <p:cNvSpPr/>
          <p:nvPr/>
        </p:nvSpPr>
        <p:spPr>
          <a:xfrm>
            <a:off x="798690" y="1536192"/>
            <a:ext cx="11137278" cy="658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Moro, S., Cortez, P., &amp; Rita, P. (2014). A data-driven approach to predict the success of bank telemarketing. Decision Support Systems. UCI Bank Marketing dataset, bank-additional-full.csv.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8690" y="241401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</a:rPr>
              <a:t>AI USAGE LOG</a:t>
            </a:r>
          </a:p>
        </p:txBody>
      </p:sp>
      <p:sp>
        <p:nvSpPr>
          <p:cNvPr id="9" name="Text 7"/>
          <p:cNvSpPr/>
          <p:nvPr/>
        </p:nvSpPr>
        <p:spPr>
          <a:xfrm>
            <a:off x="794446" y="2414016"/>
            <a:ext cx="8627884" cy="13715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 was used to improve narrative structure, identify gaps, and polish executive wording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Analysis assumptions, code review, and final recommendations were checked and owned by the analyst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AI-generated suggestions were revised to avoid unsupported claims and to align with the project rubric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4446" y="3726182"/>
            <a:ext cx="2828614" cy="21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FA9E1"/>
                </a:solidFill>
              </a:rPr>
              <a:t>FINAL SUBMISSION LINKS</a:t>
            </a:r>
            <a:endParaRPr lang="en-US" sz="1400" b="1" dirty="0"/>
          </a:p>
        </p:txBody>
      </p:sp>
      <p:sp>
        <p:nvSpPr>
          <p:cNvPr id="11" name="Text 9"/>
          <p:cNvSpPr/>
          <p:nvPr/>
        </p:nvSpPr>
        <p:spPr>
          <a:xfrm>
            <a:off x="794446" y="4105629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3B64"/>
                </a:solidFill>
              </a:rPr>
              <a:t>Slide appendix link: [insert after uploading]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3B64"/>
                </a:solidFill>
              </a:rPr>
              <a:t>GitHub notebook link: [insert after uploading]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5810" y="6446520"/>
            <a:ext cx="1110996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3242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NovaBank Analytics Methods &amp; Frameworks | Neelima Parupally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131410" y="651967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10</a:t>
            </a:r>
            <a:endParaRPr lang="en-US" sz="750" dirty="0"/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2167CD19-923E-9534-86D8-D14368F3A8C8}"/>
              </a:ext>
            </a:extLst>
          </p:cNvPr>
          <p:cNvSpPr/>
          <p:nvPr/>
        </p:nvSpPr>
        <p:spPr>
          <a:xfrm>
            <a:off x="47549" y="0"/>
            <a:ext cx="160934" cy="6858000"/>
          </a:xfrm>
          <a:prstGeom prst="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BB31BC7F-E63F-861D-1E7B-7E42E79ACD3E}"/>
              </a:ext>
            </a:extLst>
          </p:cNvPr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2FA9E1"/>
          </a:solidFill>
          <a:ln w="12700">
            <a:solidFill>
              <a:srgbClr val="2FA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1190</Words>
  <Application>Microsoft Macintosh PowerPoint</Application>
  <PresentationFormat>Widescreen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Quantic School of Business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NovaBank Predictive Outreach Decision Support</dc:title>
  <dc:subject>NovaBank Analytics Methods and Frameworks Project</dc:subject>
  <dc:creator>Neelima Parupally</dc:creator>
  <cp:lastModifiedBy>neelima parupally</cp:lastModifiedBy>
  <cp:revision>5</cp:revision>
  <dcterms:created xsi:type="dcterms:W3CDTF">2026-07-11T18:58:56Z</dcterms:created>
  <dcterms:modified xsi:type="dcterms:W3CDTF">2026-07-19T19:30:24Z</dcterms:modified>
</cp:coreProperties>
</file>